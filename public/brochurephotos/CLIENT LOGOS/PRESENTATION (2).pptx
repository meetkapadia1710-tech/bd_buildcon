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70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 autoAdjust="0"/>
    <p:restoredTop sz="94624" autoAdjust="0"/>
  </p:normalViewPr>
  <p:slideViewPr>
    <p:cSldViewPr>
      <p:cViewPr>
        <p:scale>
          <a:sx n="100" d="100"/>
          <a:sy n="100" d="100"/>
        </p:scale>
        <p:origin x="-504" y="9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D0B75-1786-460F-9542-EE2B8E84E9D1}" type="datetimeFigureOut">
              <a:rPr lang="en-US" smtClean="0"/>
              <a:pPr/>
              <a:t>11/28/2015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D3153-2D38-4292-B148-F5DB6632692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8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E1C7-1500-48AB-BB51-BA773BE72D8A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2B4-0C49-44A8-A141-FD76DA0BE5E2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EF66-88D0-46B1-B65C-07CA79324579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900C-31B0-4BD1-9CEA-7E20025AB65B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C85-2B46-42A1-BE8A-531B951BA433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8437-5A04-4064-B452-6D2615C2FA39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F75B6-AE6C-492F-873D-0E3843EC7306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8F8A4-FACE-4214-A51B-A4BCB21D88D3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9861-A08B-4C34-97E2-36FD6053CDC3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3C0-3747-4C8E-97C8-DBAAF0463AEA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1728A-530F-4E43-A69B-7B5D0ED751BE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93B1C-00D0-4352-AE03-E2AD7D60A648}" type="datetime1">
              <a:rPr lang="en-US" smtClean="0"/>
              <a:pPr/>
              <a:t>11/28/2015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IN" sz="9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9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96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sz="9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9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sz="3600" b="1" dirty="0">
              <a:ln w="11430"/>
              <a:solidFill>
                <a:schemeClr val="accent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IN" b="1" dirty="0" smtClean="0">
              <a:ln w="11430"/>
              <a:solidFill>
                <a:schemeClr val="accent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IN" sz="98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</a:p>
          <a:p>
            <a:pPr algn="r"/>
            <a:endParaRPr lang="en-IN" sz="9800" dirty="0" smtClean="0">
              <a:ln w="11430"/>
              <a:solidFill>
                <a:schemeClr val="accent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pPr algn="r"/>
            <a:endParaRPr lang="en-IN" sz="1400" dirty="0" smtClean="0">
              <a:ln w="11430"/>
              <a:solidFill>
                <a:schemeClr val="accent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IN" sz="4000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5-6 MILLANIUM ARCADE, OPP SVM ENGINEERING COLLEGE, OLD NATIONAL HIGHWAY NO. 8, </a:t>
            </a:r>
          </a:p>
          <a:p>
            <a:r>
              <a:rPr lang="en-IN" sz="4000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BHARUCH 392 002 GUJARAT, INDIA</a:t>
            </a:r>
          </a:p>
          <a:p>
            <a:r>
              <a:rPr lang="en-IN" sz="4000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PH: 02642 – 226929, MOBILE: 81550 58903 , </a:t>
            </a:r>
          </a:p>
          <a:p>
            <a:r>
              <a:rPr lang="en-IN" sz="4000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Email: business@bhmidevelopers.co.in</a:t>
            </a:r>
            <a:endParaRPr lang="en-IN" sz="4000" b="1" u="sng" dirty="0" smtClean="0">
              <a:ln w="11430"/>
              <a:solidFill>
                <a:schemeClr val="accent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IN" sz="4000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Web site: www.bhumidevelopers.co.in</a:t>
            </a:r>
          </a:p>
          <a:p>
            <a:endParaRPr lang="en-IN" sz="4000" dirty="0" smtClean="0">
              <a:ln w="11430"/>
              <a:solidFill>
                <a:schemeClr val="accent1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pPr algn="r"/>
            <a:r>
              <a:rPr lang="en-IN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2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1600" dirty="0" smtClean="0"/>
              <a:t> </a:t>
            </a:r>
            <a:r>
              <a:rPr lang="en-IN" sz="2200" b="1" dirty="0" smtClean="0">
                <a:solidFill>
                  <a:schemeClr val="accent6"/>
                </a:solidFill>
              </a:rPr>
              <a:t>BHUMI DEVELOPERS</a:t>
            </a:r>
            <a:r>
              <a:rPr lang="en-IN" sz="2200" dirty="0" smtClean="0"/>
              <a:t> is a </a:t>
            </a:r>
            <a:r>
              <a:rPr lang="en-IN" sz="2200" dirty="0" err="1" smtClean="0"/>
              <a:t>Bharuch</a:t>
            </a:r>
            <a:r>
              <a:rPr lang="en-IN" sz="2200" dirty="0" smtClean="0"/>
              <a:t>, Gujarat based turnkey contractor, an </a:t>
            </a:r>
            <a:r>
              <a:rPr lang="en-IN" sz="2000" dirty="0" smtClean="0"/>
              <a:t>ISO 9001:2008</a:t>
            </a:r>
            <a:r>
              <a:rPr lang="en-IN" sz="2200" dirty="0" smtClean="0"/>
              <a:t> certified company with an annual turnover exceeding RS 400 Million, that primarily provides large scale turnkey solutions in the construction and engineering fields. An in depth knowledge of construction, top – notch equipments, technological advance capabilities, progressive management and strong execution team has made the group a most preferred name in the </a:t>
            </a:r>
            <a:r>
              <a:rPr lang="en-IN" sz="2000" b="1" dirty="0" smtClean="0">
                <a:solidFill>
                  <a:schemeClr val="accent1"/>
                </a:solidFill>
              </a:rPr>
              <a:t>INDUSTRIAL CONSTRUCTION</a:t>
            </a:r>
            <a:r>
              <a:rPr lang="en-IN" sz="2200" dirty="0" smtClean="0"/>
              <a:t> sector. The group undertakes projects in various segments such as chemicals, </a:t>
            </a:r>
            <a:r>
              <a:rPr lang="en-IN" sz="2200" dirty="0" err="1" smtClean="0"/>
              <a:t>pharma</a:t>
            </a:r>
            <a:r>
              <a:rPr lang="en-IN" sz="2200" dirty="0" smtClean="0"/>
              <a:t>, tyre, food products, glass, fertilizer, health &amp; hygiene, adhesives, natural fibres, industrial gases etc.</a:t>
            </a:r>
            <a:endParaRPr lang="en-IN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2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IN" sz="1600" dirty="0" smtClean="0">
                <a:solidFill>
                  <a:schemeClr val="accent1"/>
                </a:solidFill>
              </a:rPr>
              <a:t> </a:t>
            </a:r>
            <a:r>
              <a:rPr lang="en-IN" sz="2200" b="1" dirty="0" smtClean="0">
                <a:solidFill>
                  <a:schemeClr val="accent1"/>
                </a:solidFill>
              </a:rPr>
              <a:t>BHUMI EDGE:</a:t>
            </a:r>
          </a:p>
          <a:p>
            <a:pPr algn="just">
              <a:buNone/>
            </a:pPr>
            <a:r>
              <a:rPr lang="en-IN" sz="2200" b="1" dirty="0" smtClean="0">
                <a:solidFill>
                  <a:schemeClr val="accent1"/>
                </a:solidFill>
              </a:rPr>
              <a:t> </a:t>
            </a:r>
            <a:endParaRPr lang="en-IN" sz="2200" b="1" dirty="0" smtClean="0">
              <a:solidFill>
                <a:schemeClr val="accent1"/>
              </a:solidFill>
            </a:endParaRP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20 </a:t>
            </a:r>
            <a:r>
              <a:rPr lang="en-IN" sz="1800" dirty="0" smtClean="0"/>
              <a:t>years of establishment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Corporate office at </a:t>
            </a:r>
            <a:r>
              <a:rPr lang="en-IN" sz="1800" dirty="0" err="1" smtClean="0"/>
              <a:t>Bharuch</a:t>
            </a:r>
            <a:r>
              <a:rPr lang="en-IN" sz="1800" dirty="0" smtClean="0"/>
              <a:t>, Gujarat.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Professional management and qualified staff. 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Bank solvency - RS 750 Millions.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Rated by CRISIL as </a:t>
            </a:r>
            <a:r>
              <a:rPr lang="en-IN" sz="1800" dirty="0" smtClean="0"/>
              <a:t>above average financial strength 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sz="1800" dirty="0" smtClean="0"/>
              <a:t>Full customer satisfaction</a:t>
            </a:r>
            <a:endParaRPr lang="en-IN" sz="1800" dirty="0" smtClean="0"/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Rich heavy </a:t>
            </a:r>
            <a:r>
              <a:rPr lang="en-IN" sz="1800" dirty="0" smtClean="0"/>
              <a:t>machinery and </a:t>
            </a:r>
            <a:r>
              <a:rPr lang="en-IN" sz="1800" dirty="0" smtClean="0"/>
              <a:t>equipment &amp; accessories holding.</a:t>
            </a:r>
            <a:endParaRPr lang="en-IN" sz="1800" dirty="0" smtClean="0"/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Have owned material testing equipments and laboratory.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Centralised yard of about 40,000 </a:t>
            </a:r>
            <a:r>
              <a:rPr lang="en-IN" sz="1800" dirty="0" err="1" smtClean="0"/>
              <a:t>Sft</a:t>
            </a:r>
            <a:r>
              <a:rPr lang="en-IN" sz="1800" dirty="0" smtClean="0"/>
              <a:t>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Owned plot of 10,000 </a:t>
            </a:r>
            <a:r>
              <a:rPr lang="en-IN" sz="1800" dirty="0" err="1" smtClean="0"/>
              <a:t>Sqm</a:t>
            </a:r>
            <a:r>
              <a:rPr lang="en-IN" sz="1800" dirty="0" smtClean="0"/>
              <a:t>. at </a:t>
            </a:r>
            <a:r>
              <a:rPr lang="en-IN" sz="1800" dirty="0" err="1" smtClean="0"/>
              <a:t>Dahej</a:t>
            </a:r>
            <a:r>
              <a:rPr lang="en-IN" sz="1800" dirty="0" smtClean="0"/>
              <a:t> for Engineering fabrication work.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Company owned guest house of 2500 </a:t>
            </a:r>
            <a:r>
              <a:rPr lang="en-IN" sz="1800" dirty="0" err="1" smtClean="0"/>
              <a:t>Sft</a:t>
            </a:r>
            <a:r>
              <a:rPr lang="en-IN" sz="1800" dirty="0" smtClean="0"/>
              <a:t> &amp; staff quarters.</a:t>
            </a:r>
            <a:endParaRPr lang="en-IN" sz="1800" dirty="0" smtClean="0"/>
          </a:p>
          <a:p>
            <a:pPr algn="just">
              <a:buNone/>
            </a:pPr>
            <a:r>
              <a:rPr lang="en-IN" sz="1600" dirty="0" smtClean="0"/>
              <a:t> </a:t>
            </a:r>
            <a:endParaRPr lang="en-IN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2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1600" dirty="0" smtClean="0">
                <a:solidFill>
                  <a:schemeClr val="accent1"/>
                </a:solidFill>
              </a:rPr>
              <a:t> </a:t>
            </a:r>
            <a:r>
              <a:rPr lang="en-IN" sz="2200" b="1" dirty="0" smtClean="0">
                <a:solidFill>
                  <a:schemeClr val="accent1"/>
                </a:solidFill>
              </a:rPr>
              <a:t>OUR ACHIEVEMENTS</a:t>
            </a:r>
            <a:r>
              <a:rPr lang="en-IN" sz="2200" b="1" dirty="0" smtClean="0">
                <a:solidFill>
                  <a:schemeClr val="accent1"/>
                </a:solidFill>
              </a:rPr>
              <a:t>:</a:t>
            </a: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Awarded by our CHIEF MINSTER, GUJARAT, SHRI NARENDRA MODI for </a:t>
            </a:r>
            <a:r>
              <a:rPr lang="en-IN" sz="1800" b="1" dirty="0" smtClean="0">
                <a:solidFill>
                  <a:schemeClr val="accent6"/>
                </a:solidFill>
              </a:rPr>
              <a:t>advance completion of project</a:t>
            </a:r>
            <a:r>
              <a:rPr lang="en-IN" sz="1800" dirty="0" smtClean="0"/>
              <a:t> at GACL, DIC FINE CHEM.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Executed highest amounting  single order of GACL – RS 77 CRORE.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Constructed project at a height of 36 meter, at GACL.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 Completed major projects with ‘0’ ACCDENT.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Completed all projects with NO DISPUTES / CLAIMS.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Got multiple repeat orders from many companies.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Completed all orders well within time frame. (Not yet penalised)</a:t>
            </a:r>
          </a:p>
          <a:p>
            <a:pPr lvl="2" algn="just">
              <a:buNone/>
            </a:pPr>
            <a:endParaRPr lang="en-IN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2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1600" dirty="0" smtClean="0">
                <a:solidFill>
                  <a:schemeClr val="accent1"/>
                </a:solidFill>
              </a:rPr>
              <a:t> </a:t>
            </a:r>
            <a:r>
              <a:rPr lang="en-IN" sz="2200" b="1" dirty="0" smtClean="0">
                <a:solidFill>
                  <a:schemeClr val="accent1"/>
                </a:solidFill>
              </a:rPr>
              <a:t>OUR </a:t>
            </a:r>
            <a:r>
              <a:rPr lang="en-IN" sz="2200" b="1" dirty="0" smtClean="0">
                <a:solidFill>
                  <a:schemeClr val="accent1"/>
                </a:solidFill>
              </a:rPr>
              <a:t>CAPABILITIES:</a:t>
            </a: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Own Capability to take high value projects up to 100 </a:t>
            </a:r>
            <a:r>
              <a:rPr lang="en-IN" sz="1800" dirty="0" err="1" smtClean="0"/>
              <a:t>crore</a:t>
            </a:r>
            <a:endParaRPr lang="en-IN" sz="1800" dirty="0" smtClean="0"/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Comprehensive capabilities </a:t>
            </a:r>
            <a:r>
              <a:rPr lang="en-IN" sz="1800" dirty="0" smtClean="0"/>
              <a:t>in the field of </a:t>
            </a:r>
            <a:r>
              <a:rPr lang="en-IN" sz="1800" dirty="0" smtClean="0"/>
              <a:t>Industrial </a:t>
            </a:r>
            <a:r>
              <a:rPr lang="en-IN" sz="1800" dirty="0" smtClean="0"/>
              <a:t>plants and buildings.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Adherence to National </a:t>
            </a:r>
            <a:r>
              <a:rPr lang="en-IN" sz="1800" dirty="0" smtClean="0"/>
              <a:t>and International </a:t>
            </a:r>
            <a:r>
              <a:rPr lang="en-IN" sz="1800" dirty="0" smtClean="0"/>
              <a:t>high quality </a:t>
            </a:r>
            <a:r>
              <a:rPr lang="en-IN" sz="1800" dirty="0" smtClean="0"/>
              <a:t>and safety </a:t>
            </a:r>
            <a:r>
              <a:rPr lang="en-IN" sz="1800" dirty="0" smtClean="0"/>
              <a:t>standards.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sz="1800" dirty="0" smtClean="0"/>
              <a:t>To work with project management consultant &amp; architects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/>
              <a:t>Completion of projects within time </a:t>
            </a:r>
            <a:r>
              <a:rPr lang="en-IN" sz="1800" dirty="0" smtClean="0"/>
              <a:t>schedule</a:t>
            </a:r>
            <a:endParaRPr lang="en-US" sz="1800" dirty="0" smtClean="0"/>
          </a:p>
          <a:p>
            <a:pPr lvl="2" algn="just">
              <a:buFont typeface="Wingdings" pitchFamily="2" charset="2"/>
              <a:buChar char="Ø"/>
            </a:pPr>
            <a:r>
              <a:rPr lang="en-IN" sz="1800" dirty="0"/>
              <a:t>Can cast 10,000 </a:t>
            </a:r>
            <a:r>
              <a:rPr lang="en-IN" sz="1800" dirty="0" err="1"/>
              <a:t>Sqm</a:t>
            </a:r>
            <a:r>
              <a:rPr lang="en-IN" sz="1800" dirty="0"/>
              <a:t>. slab with owned material at one go.</a:t>
            </a:r>
          </a:p>
          <a:p>
            <a:pPr lvl="2" algn="just">
              <a:buFont typeface="Wingdings" pitchFamily="2" charset="2"/>
              <a:buChar char="Ø"/>
            </a:pPr>
            <a:endParaRPr lang="en-US" sz="1800" dirty="0" smtClean="0"/>
          </a:p>
          <a:p>
            <a:pPr lvl="2" algn="just">
              <a:buFont typeface="Wingdings" pitchFamily="2" charset="2"/>
              <a:buChar char="Ø"/>
            </a:pPr>
            <a:endParaRPr lang="en-IN" sz="1800" dirty="0" smtClean="0"/>
          </a:p>
          <a:p>
            <a:pPr marL="914400" lvl="2" indent="0" algn="just">
              <a:buNone/>
            </a:pPr>
            <a:endParaRPr lang="en-IN" sz="1800" dirty="0" smtClean="0"/>
          </a:p>
          <a:p>
            <a:pPr lvl="2" algn="just">
              <a:buNone/>
            </a:pPr>
            <a:endParaRPr lang="en-IN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2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1600" dirty="0" smtClean="0">
                <a:solidFill>
                  <a:schemeClr val="accent1"/>
                </a:solidFill>
              </a:rPr>
              <a:t> </a:t>
            </a:r>
            <a:r>
              <a:rPr lang="en-IN" sz="2200" b="1" dirty="0" smtClean="0">
                <a:solidFill>
                  <a:schemeClr val="accent1"/>
                </a:solidFill>
              </a:rPr>
              <a:t>ACTIVITY AREAS: </a:t>
            </a: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INFRASTRUCTURE: Civil </a:t>
            </a:r>
            <a:r>
              <a:rPr lang="en-IN" sz="1800" dirty="0" smtClean="0"/>
              <a:t>construction, plot elevation, </a:t>
            </a:r>
            <a:r>
              <a:rPr lang="en-IN" sz="1800" dirty="0" smtClean="0"/>
              <a:t>earth work, pilling</a:t>
            </a:r>
            <a:r>
              <a:rPr lang="en-IN" sz="1800" dirty="0" smtClean="0"/>
              <a:t>, compound wall, electrical substation, RCC road, bituminous road,  WBM road, SLF work, swimming pool etc.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INTERIOR CONTRACTS: Structural </a:t>
            </a:r>
            <a:r>
              <a:rPr lang="en-IN" sz="1800" dirty="0" smtClean="0"/>
              <a:t>glazing, ACP, fall ceiling, partition wall, wooden flooring, aluminium door windows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FABRICATION </a:t>
            </a:r>
            <a:r>
              <a:rPr lang="en-IN" sz="1800" dirty="0" smtClean="0"/>
              <a:t>&amp; ERECTION: Building and technological s</a:t>
            </a:r>
            <a:r>
              <a:rPr lang="en-IN" sz="1800" dirty="0" smtClean="0"/>
              <a:t>tructural</a:t>
            </a:r>
            <a:r>
              <a:rPr lang="en-IN" sz="1800" dirty="0" smtClean="0"/>
              <a:t>, </a:t>
            </a:r>
            <a:r>
              <a:rPr lang="en-IN" sz="1800" dirty="0" smtClean="0"/>
              <a:t>pipe lines, </a:t>
            </a:r>
            <a:r>
              <a:rPr lang="en-IN" sz="1800" dirty="0" smtClean="0"/>
              <a:t>heavy foundation &amp; installation of equipments and pre- engineered building.</a:t>
            </a:r>
          </a:p>
          <a:p>
            <a:pPr lvl="2" algn="just">
              <a:buFont typeface="Wingdings" pitchFamily="2" charset="2"/>
              <a:buChar char="Ø"/>
            </a:pPr>
            <a:r>
              <a:rPr lang="en-IN" sz="1800" dirty="0" smtClean="0"/>
              <a:t>RESIDENTIAL: </a:t>
            </a:r>
            <a:r>
              <a:rPr lang="en-IN" sz="1800" dirty="0"/>
              <a:t>H</a:t>
            </a:r>
            <a:r>
              <a:rPr lang="en-IN" sz="1800" dirty="0" smtClean="0"/>
              <a:t>ousing </a:t>
            </a:r>
            <a:r>
              <a:rPr lang="en-IN" sz="1800" dirty="0" smtClean="0"/>
              <a:t>colony, high rise buildings, five star guest houses at international standard.   </a:t>
            </a:r>
            <a:endParaRPr lang="en-IN" sz="1800" dirty="0" smtClean="0"/>
          </a:p>
          <a:p>
            <a:pPr lvl="2" algn="just">
              <a:buFont typeface="Wingdings" pitchFamily="2" charset="2"/>
              <a:buChar char="Ø"/>
            </a:pPr>
            <a:r>
              <a:rPr lang="en-IN" sz="1800" dirty="0"/>
              <a:t>Can take up electrical , HVAC, fire fighting work contracts.</a:t>
            </a:r>
          </a:p>
          <a:p>
            <a:pPr lvl="2" algn="just">
              <a:buFont typeface="Wingdings" pitchFamily="2" charset="2"/>
              <a:buChar char="Ø"/>
            </a:pPr>
            <a:endParaRPr lang="en-IN" sz="1800" dirty="0" smtClean="0"/>
          </a:p>
          <a:p>
            <a:pPr lvl="2" algn="just">
              <a:buFont typeface="Wingdings" pitchFamily="2" charset="2"/>
              <a:buChar char="Ø"/>
            </a:pPr>
            <a:endParaRPr lang="en-IN" sz="1800" dirty="0" smtClean="0"/>
          </a:p>
          <a:p>
            <a:pPr lvl="2" algn="just">
              <a:buNone/>
            </a:pPr>
            <a:endParaRPr lang="en-IN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72783"/>
      </p:ext>
    </p:extLst>
  </p:cSld>
  <p:clrMapOvr>
    <a:masterClrMapping/>
  </p:clrMapOvr>
  <p:transition>
    <p:cover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2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1600" dirty="0" smtClean="0">
                <a:solidFill>
                  <a:schemeClr val="accent1"/>
                </a:solidFill>
              </a:rPr>
              <a:t> </a:t>
            </a:r>
            <a:r>
              <a:rPr lang="en-IN" sz="2200" b="1" dirty="0" smtClean="0">
                <a:solidFill>
                  <a:schemeClr val="accent1"/>
                </a:solidFill>
              </a:rPr>
              <a:t>OUR VALUED CLIENTS:</a:t>
            </a: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algn="just">
              <a:buNone/>
            </a:pPr>
            <a:endParaRPr lang="en-IN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2133599"/>
          <a:ext cx="6096000" cy="3046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1625600"/>
                <a:gridCol w="2032000"/>
              </a:tblGrid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INDUSTRY TYPE</a:t>
                      </a:r>
                    </a:p>
                  </a:txBody>
                  <a:tcPr marL="9525" marR="9525" marT="9525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9525" marR="9525" marT="9525" marB="0" anchor="b">
                    <a:solidFill>
                      <a:schemeClr val="accent6"/>
                    </a:solidFill>
                  </a:tcPr>
                </a:tc>
              </a:tr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AGROTECH FOOD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FOOD PRODUCTS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JHAGADIA</a:t>
                      </a:r>
                    </a:p>
                  </a:txBody>
                  <a:tcPr marL="9525" marR="9525" marT="9525" marB="0" anchor="b"/>
                </a:tc>
              </a:tr>
              <a:tr h="2494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ATC (ALLIANCE TYRE COMPANY) TIRE PVT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TYRE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BASF STYRENICS PVT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POLYSTERENE GRANULES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BIRLA CELLULOSIC TRADC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NATURAL FIBRRES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KOSAMBA</a:t>
                      </a:r>
                    </a:p>
                  </a:txBody>
                  <a:tcPr marL="9525" marR="9525" marT="9525" marB="0" anchor="b"/>
                </a:tc>
              </a:tr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BOSTIK INDIA PVT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ADHESIVES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JHAGADIA</a:t>
                      </a:r>
                    </a:p>
                  </a:txBody>
                  <a:tcPr marL="9525" marR="9525" marT="9525" marB="0" anchor="b"/>
                </a:tc>
              </a:tr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BYER CROP SCIENCE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INSCETICIDES / PESTICIDES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ANKLESHWAR</a:t>
                      </a:r>
                    </a:p>
                  </a:txBody>
                  <a:tcPr marL="9525" marR="9525" marT="9525" marB="0" anchor="b"/>
                </a:tc>
              </a:tr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DIC FINE CHEM PVT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PRINTING INK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24946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EURECAT INDIA CATALYST SERVICES PVT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CATALYSTS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JHAGADIA</a:t>
                      </a:r>
                    </a:p>
                  </a:txBody>
                  <a:tcPr marL="9525" marR="9525" marT="9525" marB="0" anchor="b"/>
                </a:tc>
              </a:tr>
              <a:tr h="2494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GUJARAT ALKALIES AND CHEMICALS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CAUSTIC SODA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12817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GUJARAT FLORO CHEMICALS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CHEMICALS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2494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GUJARAT NARMADA VELLEY FERTILIZERS CO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FERTILIZER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2494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INDIAN PETROCHEMICALS CORPORATION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PETROLIUM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31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3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2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1600" dirty="0" smtClean="0">
                <a:solidFill>
                  <a:schemeClr val="accent1"/>
                </a:solidFill>
              </a:rPr>
              <a:t> </a:t>
            </a:r>
            <a:r>
              <a:rPr lang="en-IN" sz="2200" b="1" dirty="0" smtClean="0">
                <a:solidFill>
                  <a:schemeClr val="accent1"/>
                </a:solidFill>
              </a:rPr>
              <a:t>OUR VALUED CLIENTS:</a:t>
            </a: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algn="just">
              <a:buNone/>
            </a:pPr>
            <a:endParaRPr lang="en-IN" sz="2200" b="1" dirty="0" smtClean="0">
              <a:solidFill>
                <a:schemeClr val="accent1"/>
              </a:solidFill>
            </a:endParaRPr>
          </a:p>
          <a:p>
            <a:pPr algn="just">
              <a:buNone/>
            </a:pPr>
            <a:endParaRPr lang="en-IN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0" y="2029034"/>
          <a:ext cx="6096000" cy="4188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INDUSTRY TYPE</a:t>
                      </a:r>
                    </a:p>
                  </a:txBody>
                  <a:tcPr marL="9525" marR="9525" marT="9525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9525" marR="9525" marT="9525" marB="0" anchor="b">
                    <a:solidFill>
                      <a:schemeClr val="accent6"/>
                    </a:solidFill>
                  </a:tcPr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LNG PETRONET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PETROLIUM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MEGHMANI FINE CHEM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CHEMICALS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33062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NAVIN FLUORINE INTERNATIONAL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SPECIALITY &amp;  FLOROCHEMICALS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PIDILITE INDUSTRIES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HOTMELT ADHESIVE TAP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RECKITT BENCKISER INDIA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HEALTH HYGENE &amp; HOME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KARJAN</a:t>
                      </a:r>
                    </a:p>
                  </a:txBody>
                  <a:tcPr marL="9525" marR="9525" marT="9525" marB="0" anchor="b"/>
                </a:tc>
              </a:tr>
              <a:tr h="33062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ROXUL ROCKWOOL INSULATION INDIA PVT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INSULATION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ROYAL PALM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HOTEL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SAINT </a:t>
                      </a:r>
                      <a:r>
                        <a:rPr lang="en-IN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GOBAIN INDIA PVT LTD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GLASS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JHAGADIA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TAGROS CHEMICALS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AGRO CHEMICALS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THERMAX INSTRUMENTATION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INSTRUMENTATION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WAGRA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TORRENT PHARMACEUTICALS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DAHEJ</a:t>
                      </a:r>
                    </a:p>
                  </a:txBody>
                  <a:tcPr marL="9525" marR="9525" marT="9525" marB="0" anchor="b"/>
                </a:tc>
              </a:tr>
              <a:tr h="3181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ZCL CHEMICALS LTD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FINE CHEMICALS &amp; INTERMIDIATES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ANKLESHWAR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76400" y="1295381"/>
          <a:ext cx="5638799" cy="5181605"/>
        </p:xfrm>
        <a:graphic>
          <a:graphicData uri="http://schemas.openxmlformats.org/drawingml/2006/table">
            <a:tbl>
              <a:tblPr/>
              <a:tblGrid>
                <a:gridCol w="505806"/>
                <a:gridCol w="3034835"/>
                <a:gridCol w="1592352"/>
                <a:gridCol w="505806"/>
              </a:tblGrid>
              <a:tr h="11286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 dirty="0">
                          <a:solidFill>
                            <a:srgbClr val="000000"/>
                          </a:solidFill>
                          <a:latin typeface="Book Antiqua"/>
                        </a:rPr>
                        <a:t>LIST OF MACHINERY </a:t>
                      </a:r>
                    </a:p>
                  </a:txBody>
                  <a:tcPr marL="4024" marR="4024" marT="40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500" b="1" i="0" u="none" strike="noStrike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4024" marR="4024" marT="40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NO.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HEAVY MACHINERY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MAKE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QTY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EXCAVATOR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JCB - 3D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JCB INDIA LTD.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JCB - 3 DX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JCB INDIA LTD.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latin typeface="Book Antiqua"/>
                        </a:rPr>
                        <a:t>JCB - TEREX TLB 844S, VECTRA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TEREX VECTRA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POKLAIN - JS-80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JCB INDIA LTD.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POKLAIN - JS-130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JCB INDIA LTD.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POKLAIN - L &amp; T 190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L &amp; T 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BULL DOZER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HINDUSTAN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ROAD ROLLER MACHINE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6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latin typeface="Book Antiqua"/>
                        </a:rPr>
                        <a:t>VIBRO ROLLER - COMPACTOR 11.5 MT. -  35 MT Compaction Capacity.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L &amp; T  CASE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VIBRO ROLLER - COMPACTOR 1MT. -  3 MT Compaction Capacity.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L &amp; T 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STATIC ROLLER - 10 MT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4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PAVER MACHINE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APOLLO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PLATE COMPACTOR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ELECTRIC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KIRLOSKAR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8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DIESEL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KIRLOSKAR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4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6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ROBOTIC MOBILE TRANSIT MIXTURE - </a:t>
                      </a:r>
                      <a:r>
                        <a:rPr lang="en-IN" sz="400" b="1" i="0" u="none" strike="noStrike">
                          <a:solidFill>
                            <a:srgbClr val="0066CC"/>
                          </a:solidFill>
                          <a:latin typeface="Book Antiqua"/>
                        </a:rPr>
                        <a:t>AJAX  - 2 CUMT.</a:t>
                      </a:r>
                      <a:endParaRPr lang="en-IN" sz="500" b="1" i="0" u="none" strike="noStrike">
                        <a:solidFill>
                          <a:srgbClr val="0070C0"/>
                        </a:solidFill>
                        <a:latin typeface="Book Antiqua"/>
                      </a:endParaRP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FERRARI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4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7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ROBOTIC MOBILE TRANSIT MIXTURE - </a:t>
                      </a:r>
                      <a:r>
                        <a:rPr lang="en-IN" sz="400" b="1" i="0" u="none" strike="noStrike">
                          <a:solidFill>
                            <a:srgbClr val="0066CC"/>
                          </a:solidFill>
                          <a:latin typeface="Book Antiqua"/>
                        </a:rPr>
                        <a:t>AJAX  - 4 CUMT. </a:t>
                      </a:r>
                      <a:endParaRPr lang="en-IN" sz="500" b="1" i="0" u="none" strike="noStrike">
                        <a:solidFill>
                          <a:srgbClr val="0070C0"/>
                        </a:solidFill>
                        <a:latin typeface="Book Antiqua"/>
                      </a:endParaRP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FERRARI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8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BATCHING PLANT - RMC - 800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UNIVERSAL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9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BATCHING PLANT - RMC - 1050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UNIVERSAL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BATCHING PLANT - 18 CUM, RM 18 DX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UNIVERSAL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BATCHING PLANT - 30 CUM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GAYATRI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TRANSIT MIXER 6 CUM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SCHWING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4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TRANSIT MIXER 6 CUM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GREAVES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14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CONCRETE PUMP - 703-D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AQUARIOUS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4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15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TOUGH RIDER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UNIVERSAL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6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16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MIXER MACHINE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SHREE RAM / SAFARI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8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17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WEIGH BATCHER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SHREE RAM / SAFARI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8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18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DMC PILE - TRUCK MOUNTED MACHINE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19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TOWER CRANE - 3625 , ACE MTC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ACE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CRANE - 35 MT LIFTING CAPACITY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ACE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HYDRA  12 MT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ACE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LIFT MACHINE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STEEL TECH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BINCH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SAFARI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4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24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CONCRETE BLOCK MAKING MACHINE - </a:t>
                      </a:r>
                      <a:r>
                        <a:rPr lang="en-IN" sz="400" b="1" i="0" u="none" strike="noStrike">
                          <a:solidFill>
                            <a:srgbClr val="0066CC"/>
                          </a:solidFill>
                          <a:latin typeface="Book Antiqua"/>
                        </a:rPr>
                        <a:t>VP 4-30 PAVER</a:t>
                      </a:r>
                      <a:endParaRPr lang="en-IN" sz="500" b="1" i="0" u="none" strike="noStrike">
                        <a:solidFill>
                          <a:srgbClr val="0070C0"/>
                        </a:solidFill>
                        <a:latin typeface="Book Antiqua"/>
                      </a:endParaRP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NINGBO M/C. CHINA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25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DUMPER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TATA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26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TRACTOR LOADER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MAHINDRA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27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TRACTOR 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MAHINDRA / SWARAJ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15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28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WATER TANKER - 12000 LTR.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TATA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29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WATER TANKER - 4000 LTR.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MAHINDRA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6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30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WEIGHBRIDGE - 50 TONS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ENDEAVOUR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024" marR="4024" marT="40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514600" y="5785"/>
            <a:ext cx="3800475" cy="1000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 smtClean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2400" b="1" dirty="0" smtClean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2400" b="1" u="sng" dirty="0" smtClean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br>
              <a:rPr lang="en-IN" sz="2400" b="1" u="sng" dirty="0" smtClean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100" b="1" dirty="0" smtClean="0">
                <a:ln w="11430"/>
                <a:solidFill>
                  <a:srgbClr val="4F81BD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endParaRPr lang="en-IN" sz="11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152401"/>
            <a:ext cx="81534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BHUMI </a:t>
            </a:r>
            <a:br>
              <a:rPr lang="en-IN" sz="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28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DEVELOPERS</a:t>
            </a:r>
            <a:r>
              <a:rPr lang="en-IN" sz="1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IN" sz="1100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N" sz="1100" b="1" dirty="0" smtClean="0">
                <a:ln w="11430"/>
                <a:solidFill>
                  <a:schemeClr val="accent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TURNKEY CONTRACTOR</a:t>
            </a:r>
            <a:endParaRPr lang="en-IN" sz="11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1" y="1397008"/>
          <a:ext cx="5486399" cy="4622802"/>
        </p:xfrm>
        <a:graphic>
          <a:graphicData uri="http://schemas.openxmlformats.org/drawingml/2006/table">
            <a:tbl>
              <a:tblPr/>
              <a:tblGrid>
                <a:gridCol w="492136"/>
                <a:gridCol w="2952813"/>
                <a:gridCol w="1549314"/>
                <a:gridCol w="492136"/>
              </a:tblGrid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EQUIPMENTS AND ACCESSORIES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VIBRATOR WITH NEEDLE - ELECTRIC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KIRLOSKAR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VIBRATOR - PETROL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ENFIELD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VIBRATOR - ELECTRIC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WALKER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4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DE-WATERING MOTOR - ELECTRIC, 5 HP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KIRLOSKAR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DE-WATERING MOTOR - ELECTRIC, 1 HP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KIRLOSKAR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8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6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l-NL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DE-WATERING PUMP - DIESEL, 5 HP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MARSHAL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7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l-NL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DE-WATERING MUD PUMP - DIESL, 10 HP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MARSHAL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8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GRINDER - BIG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HILTI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9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GRINDER - SMALL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HILTI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DRILL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HILTI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11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BREAKER 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HILTI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4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REBARRING MACHINE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HILTI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WELDING MACHINE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SUBANDHU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14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STEEL CUTING MACHINE - HYDRAULIC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OM ENTERPRISE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6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STEEL CUTING MACHINE - MANUAL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BOSCH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16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STEEL BENDING MACHINE - HYDRAULIC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OM ENTERPRISE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6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17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PLY CUTTER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BOSCH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18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CHAIN KUPPA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A) 10 MT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B) 5 MT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C) 3 MT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19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PUG MACHINE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8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FLOOR SCRUBBER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GODREJ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21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FULLY EQUIPPED MATERIAL TESTING LAB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 SET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DIESEL GENERATOR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125 KVA (KIRLOSKAR)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KIRLOSKAR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35 KVA (CROMPTON GREAVES)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MAHINDRA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15 KVA (CROMPTON GREAVES)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MAHINDRA  OFFICE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23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PORTA CABINS - OFFICE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10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24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CONTAINER STORE - 40 X 8 FT (CEMENT)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6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25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SELF POWERED MOVABLE FLOOD LIGHT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TEREX 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4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26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WATER STORAGE TANK 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SYNTEX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A) 2000 LTR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B) 1500 LTR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20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C) 1000 LTR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 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30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27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70C0"/>
                          </a:solidFill>
                          <a:latin typeface="Book Antiqua"/>
                        </a:rPr>
                        <a:t>AMBULANCE 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latin typeface="Book Antiqua"/>
                        </a:rPr>
                        <a:t>MAHINDRA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4896" marR="4896" marT="48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/>
              <a:t>DO VISIT OUR WEB SITE</a:t>
            </a:r>
            <a:r>
              <a:rPr lang="en-IN" sz="2400" dirty="0" smtClean="0">
                <a:solidFill>
                  <a:srgbClr val="FF0000"/>
                </a:solidFill>
              </a:rPr>
              <a:t>:</a:t>
            </a:r>
            <a:r>
              <a:rPr lang="en-IN" dirty="0" smtClean="0">
                <a:solidFill>
                  <a:srgbClr val="FF0000"/>
                </a:solidFill>
              </a:rPr>
              <a:t/>
            </a:r>
            <a:br>
              <a:rPr lang="en-IN" dirty="0" smtClean="0">
                <a:solidFill>
                  <a:srgbClr val="FF0000"/>
                </a:solidFill>
              </a:rPr>
            </a:br>
            <a:r>
              <a:rPr lang="en-IN" dirty="0" smtClean="0">
                <a:solidFill>
                  <a:srgbClr val="FF0000"/>
                </a:solidFill>
              </a:rPr>
              <a:t>WWW.BHUMIDEVELOPERS.CO.IN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4400" b="1" dirty="0" smtClean="0">
                <a:solidFill>
                  <a:schemeClr val="accent1"/>
                </a:solidFill>
              </a:rPr>
              <a:t>THANKS.</a:t>
            </a:r>
            <a:endParaRPr lang="en-IN" sz="44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Cheers design template</Template>
  <TotalTime>674</TotalTime>
  <Words>1280</Words>
  <Application>Microsoft Office PowerPoint</Application>
  <PresentationFormat>On-screen Show (4:3)</PresentationFormat>
  <Paragraphs>479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BHUMI  DEVELOPERS </vt:lpstr>
      <vt:lpstr>  BHUMI  DEVELOPERS TURNKEY CONTRACTOR  </vt:lpstr>
      <vt:lpstr>  BHUMI  DEVELOPERS TURNKEY CONTRACTOR  </vt:lpstr>
      <vt:lpstr>  BHUMI  DEVELOPERS TURNKEY CONTRACTOR  </vt:lpstr>
      <vt:lpstr>  BHUMI  DEVELOPERS TURNKEY CONTRACTOR  </vt:lpstr>
      <vt:lpstr>  BHUMI  DEVELOPERS TURNKEY CONTRACTOR  </vt:lpstr>
      <vt:lpstr>  BHUMI  DEVELOPERS TURNKEY CONTRACTOR  </vt:lpstr>
      <vt:lpstr>  BHUMI  DEVELOPERS TURNKEY CONTRACTOR  </vt:lpstr>
      <vt:lpstr>PowerPoint Presentation</vt:lpstr>
      <vt:lpstr>PowerPoint Presentation</vt:lpstr>
      <vt:lpstr>DO VISIT OUR WEB SITE: WWW.BHUMIDEVELOPERS.CO.IN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BHUMI  DEVELOPERS </dc:title>
  <dc:creator>Ronak</dc:creator>
  <cp:lastModifiedBy>DHRUVEEN SHETH</cp:lastModifiedBy>
  <cp:revision>71</cp:revision>
  <dcterms:created xsi:type="dcterms:W3CDTF">2006-08-16T00:00:00Z</dcterms:created>
  <dcterms:modified xsi:type="dcterms:W3CDTF">2015-11-28T05:38:14Z</dcterms:modified>
</cp:coreProperties>
</file>